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4892040"/>
            <a:ext cx="15087600" cy="1965960"/>
          </a:xfrm>
          <a:prstGeom prst="parallelogram">
            <a:avLst/>
          </a:prstGeom>
          <a:solidFill>
            <a:srgbClr val="000E2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645152"/>
            <a:ext cx="15087600" cy="201168"/>
          </a:xfrm>
          <a:prstGeom prst="parallelogram">
            <a:avLst/>
          </a:prstGeom>
          <a:solidFill>
            <a:srgbClr val="EAB200"/>
          </a:solidFill>
          <a:ln/>
        </p:spPr>
      </p:sp>
      <p:pic>
        <p:nvPicPr>
          <p:cNvPr id="4" name="Image 0" descr="/home/claude/assets/javeriana_word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02920"/>
            <a:ext cx="3246120" cy="10881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VECTRA RISK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822960" y="3310128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de crédito de vivienda, explicable y auditable, dentro de la infraestructura del propio banco.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" y="422452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"El modelo puntúa, el analista decide, el registro queda."</a:t>
            </a:r>
            <a:endParaRPr lang="en-US" sz="1400" dirty="0"/>
          </a:p>
        </p:txBody>
      </p:sp>
      <p:pic>
        <p:nvPicPr>
          <p:cNvPr id="8" name="Image 1" descr="/home/claude/assets/javeriana_cre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166360"/>
            <a:ext cx="1005840" cy="1289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6263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9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estudio · Tópicos Especiales en Informática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0"/>
            <a:ext cx="8778240" cy="1481328"/>
          </a:xfrm>
          <a:prstGeom prst="parallelogram">
            <a:avLst/>
          </a:prstGeom>
          <a:solidFill>
            <a:srgbClr val="001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237744" cy="1481328"/>
          </a:xfrm>
          <a:prstGeom prst="parallelogram">
            <a:avLst/>
          </a:prstGeom>
          <a:solidFill>
            <a:srgbClr val="EAB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PROBLEMA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mercado está desatendido en penetración, no en apetito</a:t>
            </a:r>
            <a:endParaRPr lang="en-US" sz="2600" dirty="0"/>
          </a:p>
        </p:txBody>
      </p:sp>
      <p:pic>
        <p:nvPicPr>
          <p:cNvPr id="6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56032"/>
            <a:ext cx="429768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920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7.4%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640080" y="261518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PIB en cartera hipotecaria — vs. 26,3% en Chile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" y="33375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+11.2%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640080" y="403250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crecimiento anual de la cartera de vivienda, Q4 2025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47548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3.3%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640080" y="5449824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colombianos tiene un crédito hipotecario activo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394960" y="1920240"/>
            <a:ext cx="6126480" cy="1115568"/>
          </a:xfrm>
          <a:prstGeom prst="roundRect">
            <a:avLst>
              <a:gd name="adj" fmla="val 8197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5623560" y="2295144"/>
            <a:ext cx="365760" cy="365760"/>
          </a:xfrm>
          <a:prstGeom prst="ellipse">
            <a:avLst/>
          </a:prstGeom>
          <a:solidFill>
            <a:srgbClr val="00194C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2039112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scoring vive en el notebook del área de riesgo, no en producción.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394960" y="3273552"/>
            <a:ext cx="6126480" cy="1115568"/>
          </a:xfrm>
          <a:prstGeom prst="roundRect">
            <a:avLst>
              <a:gd name="adj" fmla="val 8197"/>
            </a:avLst>
          </a:prstGeom>
          <a:solidFill>
            <a:srgbClr val="F2F2F2"/>
          </a:solidFill>
          <a:ln/>
        </p:spPr>
      </p:sp>
      <p:sp>
        <p:nvSpPr>
          <p:cNvPr id="17" name="Shape 14"/>
          <p:cNvSpPr/>
          <p:nvPr/>
        </p:nvSpPr>
        <p:spPr>
          <a:xfrm>
            <a:off x="5623560" y="3648456"/>
            <a:ext cx="365760" cy="365760"/>
          </a:xfrm>
          <a:prstGeom prst="ellipse">
            <a:avLst/>
          </a:prstGeom>
          <a:solidFill>
            <a:srgbClr val="00194C"/>
          </a:solidFill>
          <a:ln/>
        </p:spPr>
      </p:sp>
      <p:sp>
        <p:nvSpPr>
          <p:cNvPr id="18" name="Text 15"/>
          <p:cNvSpPr/>
          <p:nvPr/>
        </p:nvSpPr>
        <p:spPr>
          <a:xfrm>
            <a:off x="6217920" y="3392424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un rechazo hoy exige reconstruir a mano por qué decidió el modelo.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394960" y="4626864"/>
            <a:ext cx="6126480" cy="1115568"/>
          </a:xfrm>
          <a:prstGeom prst="roundRect">
            <a:avLst>
              <a:gd name="adj" fmla="val 8197"/>
            </a:avLst>
          </a:prstGeom>
          <a:solidFill>
            <a:srgbClr val="F2F2F2"/>
          </a:solidFill>
          <a:ln/>
        </p:spPr>
      </p:sp>
      <p:sp>
        <p:nvSpPr>
          <p:cNvPr id="20" name="Shape 17"/>
          <p:cNvSpPr/>
          <p:nvPr/>
        </p:nvSpPr>
        <p:spPr>
          <a:xfrm>
            <a:off x="5623560" y="5001768"/>
            <a:ext cx="365760" cy="365760"/>
          </a:xfrm>
          <a:prstGeom prst="ellipse">
            <a:avLst/>
          </a:prstGeom>
          <a:solidFill>
            <a:srgbClr val="00194C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4745736"/>
            <a:ext cx="51206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LQN Hipotecas ya promete desembolsos en 10 días frente a 100+ tradicionales.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Valora Analitik (21 may 2026) · Portafolio (4 mar 2025)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0"/>
            <a:ext cx="8778240" cy="1481328"/>
          </a:xfrm>
          <a:prstGeom prst="parallelogram">
            <a:avLst/>
          </a:prstGeom>
          <a:solidFill>
            <a:srgbClr val="001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237744" cy="1481328"/>
          </a:xfrm>
          <a:prstGeom prst="parallelogram">
            <a:avLst/>
          </a:prstGeom>
          <a:solidFill>
            <a:srgbClr val="EAB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IDEAL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quién le vendemos</a:t>
            </a:r>
            <a:endParaRPr lang="en-US" sz="2600" dirty="0"/>
          </a:p>
        </p:txBody>
      </p:sp>
      <p:pic>
        <p:nvPicPr>
          <p:cNvPr id="6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56032"/>
            <a:ext cx="429768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Bancos medianos y cooperativas financieras colombianas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4206240" cy="3977640"/>
          </a:xfrm>
          <a:prstGeom prst="roundRect">
            <a:avLst>
              <a:gd name="adj" fmla="val 2759"/>
            </a:avLst>
          </a:prstGeom>
          <a:solidFill>
            <a:srgbClr val="00194C"/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232257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 del beachhead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2816352"/>
            <a:ext cx="36576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9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originan crédito de vivienda propio o vía brokers (LQN y similares)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9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operan Kubernetes para otros sistemas — banca digital, canales, APIs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9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scoring de vivienda corre en un motor de reglas, o en un modelo que nunca salió del notebook</a:t>
            </a:r>
            <a:endParaRPr lang="en-US" sz="130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C9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Geografía: Colombia exclusivamente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120640" y="2103120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/>
        </p:spPr>
      </p:sp>
      <p:sp>
        <p:nvSpPr>
          <p:cNvPr id="12" name="Shape 9"/>
          <p:cNvSpPr/>
          <p:nvPr/>
        </p:nvSpPr>
        <p:spPr>
          <a:xfrm>
            <a:off x="5367528" y="2313432"/>
            <a:ext cx="457200" cy="457200"/>
          </a:xfrm>
          <a:prstGeom prst="ellipse">
            <a:avLst/>
          </a:prstGeom>
          <a:solidFill>
            <a:srgbClr val="EAB200"/>
          </a:solidFill>
          <a:ln/>
        </p:spPr>
      </p:sp>
      <p:sp>
        <p:nvSpPr>
          <p:cNvPr id="13" name="Text 10"/>
          <p:cNvSpPr/>
          <p:nvPr/>
        </p:nvSpPr>
        <p:spPr>
          <a:xfrm>
            <a:off x="5367528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035040" y="2221992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 de Riesgo / CRO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35040" y="2587752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Decisor y veto principal — pregunta si puede defender la decisión ante la Superintendencia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120640" y="3456432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/>
        </p:spPr>
      </p:sp>
      <p:sp>
        <p:nvSpPr>
          <p:cNvPr id="17" name="Shape 14"/>
          <p:cNvSpPr/>
          <p:nvPr/>
        </p:nvSpPr>
        <p:spPr>
          <a:xfrm>
            <a:off x="5367528" y="3666744"/>
            <a:ext cx="457200" cy="457200"/>
          </a:xfrm>
          <a:prstGeom prst="ellipse">
            <a:avLst/>
          </a:prstGeom>
          <a:solidFill>
            <a:srgbClr val="EAB200"/>
          </a:solidFill>
          <a:ln/>
        </p:spPr>
      </p:sp>
      <p:sp>
        <p:nvSpPr>
          <p:cNvPr id="18" name="Text 15"/>
          <p:cNvSpPr/>
          <p:nvPr/>
        </p:nvSpPr>
        <p:spPr>
          <a:xfrm>
            <a:off x="5367528" y="3666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035040" y="3575304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Cumplimiento / SARLAFT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035040" y="3941064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en paralelo — vigila variables proxy y trazabilidad de cada explicación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120640" y="4809744"/>
            <a:ext cx="6400800" cy="1188720"/>
          </a:xfrm>
          <a:prstGeom prst="roundRect">
            <a:avLst>
              <a:gd name="adj" fmla="val 7692"/>
            </a:avLst>
          </a:prstGeom>
          <a:solidFill>
            <a:srgbClr val="F2F2F2"/>
          </a:solidFill>
          <a:ln/>
        </p:spPr>
      </p:sp>
      <p:sp>
        <p:nvSpPr>
          <p:cNvPr id="22" name="Shape 19"/>
          <p:cNvSpPr/>
          <p:nvPr/>
        </p:nvSpPr>
        <p:spPr>
          <a:xfrm>
            <a:off x="5367528" y="5020056"/>
            <a:ext cx="457200" cy="457200"/>
          </a:xfrm>
          <a:prstGeom prst="ellipse">
            <a:avLst/>
          </a:prstGeom>
          <a:solidFill>
            <a:srgbClr val="EAB200"/>
          </a:solidFill>
          <a:ln/>
        </p:spPr>
      </p:sp>
      <p:sp>
        <p:nvSpPr>
          <p:cNvPr id="23" name="Text 20"/>
          <p:cNvSpPr/>
          <p:nvPr/>
        </p:nvSpPr>
        <p:spPr>
          <a:xfrm>
            <a:off x="5367528" y="5020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6035040" y="4928616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Analista de crédito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035040" y="5294376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Usuario, no comprador — si deja de usar la explicación, la adopción muere en silencio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0"/>
            <a:ext cx="8778240" cy="1481328"/>
          </a:xfrm>
          <a:prstGeom prst="parallelogram">
            <a:avLst/>
          </a:prstGeom>
          <a:solidFill>
            <a:srgbClr val="001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237744" cy="1481328"/>
          </a:xfrm>
          <a:prstGeom prst="parallelogram">
            <a:avLst/>
          </a:prstGeom>
          <a:solidFill>
            <a:srgbClr val="EAB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hueco: self-hosted + conocimiento normativo colombiano</a:t>
            </a:r>
            <a:endParaRPr lang="en-US" sz="2600" dirty="0"/>
          </a:p>
        </p:txBody>
      </p:sp>
      <p:pic>
        <p:nvPicPr>
          <p:cNvPr id="6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56032"/>
            <a:ext cx="429768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diferenciador no es explicar decisiones — eso ya es tabla estándar del mercado. Es dónde corre el sistema y qué tan bien conoce el crédito de vivienda colombiano.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94560" y="4160520"/>
            <a:ext cx="6400800" cy="0"/>
          </a:xfrm>
          <a:prstGeom prst="line">
            <a:avLst/>
          </a:prstGeom>
          <a:noFill/>
          <a:ln w="12700">
            <a:solidFill>
              <a:srgbClr val="D6D9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94960" y="2240280"/>
            <a:ext cx="0" cy="3840480"/>
          </a:xfrm>
          <a:prstGeom prst="line">
            <a:avLst/>
          </a:prstGeom>
          <a:noFill/>
          <a:ln w="12700">
            <a:solidFill>
              <a:srgbClr val="D6D9E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94560" y="2240280"/>
            <a:ext cx="6400800" cy="3840480"/>
          </a:xfrm>
          <a:prstGeom prst="rect">
            <a:avLst/>
          </a:prstGeom>
          <a:ln w="12700">
            <a:solidFill>
              <a:srgbClr val="D6D9E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103120" y="6153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Gestionado / SaaS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09360" y="6153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en el banco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21945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2423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normativo local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57200" y="58521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genérico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383280" y="5413248"/>
            <a:ext cx="182880" cy="182880"/>
          </a:xfrm>
          <a:prstGeom prst="ellipse">
            <a:avLst/>
          </a:prstGeom>
          <a:solidFill>
            <a:srgbClr val="A8AD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9312" y="5340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/ Zest AI 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Experian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063240" y="3108960"/>
            <a:ext cx="182880" cy="182880"/>
          </a:xfrm>
          <a:prstGeom prst="ellipse">
            <a:avLst/>
          </a:prstGeom>
          <a:solidFill>
            <a:srgbClr val="A8AD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319272" y="30358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LQN Hipotecas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223760" y="5413248"/>
            <a:ext cx="182880" cy="182880"/>
          </a:xfrm>
          <a:prstGeom prst="ellipse">
            <a:avLst/>
          </a:prstGeom>
          <a:solidFill>
            <a:srgbClr val="A8ADB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79792" y="534009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SHAP+LIME+AIF360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(hazlo tú mismo)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7040880" y="2938882"/>
            <a:ext cx="292608" cy="292608"/>
          </a:xfrm>
          <a:prstGeom prst="ellipse">
            <a:avLst/>
          </a:prstGeom>
          <a:solidFill>
            <a:srgbClr val="EAB2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06640" y="292059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01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VECTRA RISK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5715000" y="2286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01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Hueco defendible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0"/>
            <a:ext cx="8778240" cy="1481328"/>
          </a:xfrm>
          <a:prstGeom prst="parallelogram">
            <a:avLst/>
          </a:prstGeom>
          <a:solidFill>
            <a:srgbClr val="001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237744" cy="1481328"/>
          </a:xfrm>
          <a:prstGeom prst="parallelogram">
            <a:avLst/>
          </a:prstGeom>
          <a:solidFill>
            <a:srgbClr val="EAB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usa en el día a día</a:t>
            </a:r>
            <a:endParaRPr lang="en-US" sz="2600" dirty="0"/>
          </a:p>
        </p:txBody>
      </p:sp>
      <p:pic>
        <p:nvPicPr>
          <p:cNvPr id="6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56032"/>
            <a:ext cx="429768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cinco flujos que sostienen el argumento de producto — incluido el que detecta si nadie lo está usando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4023360"/>
        </p:xfrm>
        <a:graphic>
          <a:graphicData uri="http://schemas.openxmlformats.org/drawingml/2006/table">
            <a:tbl>
              <a:tblPr/>
              <a:tblGrid>
                <a:gridCol w="3200400"/>
                <a:gridCol w="1965960"/>
                <a:gridCol w="3246120"/>
                <a:gridCol w="2468880"/>
              </a:tblGrid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uso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Trigger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4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impactado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94C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1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explicado en la originación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Analista de crédito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Llega una solicitud por cualquier canal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Originación &lt;1h en 80% de casos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1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Defender un rechazo ante la Superintendencia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Pregunta formal sobre un caso rechazado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decisiones con explicación sincronizada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1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Monitoreo de disparidad pre/post fuente de datos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Cumplimiento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propone incorporar datos alternativos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Disparidad de aprobación &lt;5pp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1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atascado en notebook sale a producción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Área de riesgo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Cumple la señal de calificación #3 del ICP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 &gt;0.85 sobre cartera real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01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Irrelevancia silenciosa detectada a tiempo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Comité de crédito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Cero apartamiento sostenido del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F3F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Tasa de adopción real (North Star)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0"/>
            <a:ext cx="8778240" cy="1481328"/>
          </a:xfrm>
          <a:prstGeom prst="parallelogram">
            <a:avLst/>
          </a:prstGeom>
          <a:solidFill>
            <a:srgbClr val="001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237744" cy="1481328"/>
          </a:xfrm>
          <a:prstGeom prst="parallelogram">
            <a:avLst/>
          </a:prstGeom>
          <a:solidFill>
            <a:srgbClr val="EAB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 corre dentro del clúster del banco</a:t>
            </a:r>
            <a:endParaRPr lang="en-US" sz="2600" dirty="0"/>
          </a:p>
        </p:txBody>
      </p:sp>
      <p:pic>
        <p:nvPicPr>
          <p:cNvPr id="6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56032"/>
            <a:ext cx="429768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Self-hosted, sin que el dato del solicitante salga de la infraestructura del cliente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2286000"/>
            <a:ext cx="10515600" cy="2633472"/>
          </a:xfrm>
          <a:prstGeom prst="roundRect">
            <a:avLst>
              <a:gd name="adj" fmla="val 4167"/>
            </a:avLst>
          </a:prstGeom>
          <a:solidFill>
            <a:srgbClr val="F2F2F2"/>
          </a:solidFill>
          <a:ln w="12700">
            <a:solidFill>
              <a:srgbClr val="00194C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1097280" y="24048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1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Kubernetes del banco (self-hosted)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188720" y="27889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0194C"/>
          </a:solidFill>
          <a:ln/>
        </p:spPr>
      </p:sp>
      <p:sp>
        <p:nvSpPr>
          <p:cNvPr id="11" name="Text 8"/>
          <p:cNvSpPr/>
          <p:nvPr/>
        </p:nvSpPr>
        <p:spPr>
          <a:xfrm>
            <a:off x="1280160" y="2843784"/>
            <a:ext cx="1645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280160" y="3278124"/>
            <a:ext cx="1645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por rol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703320" y="27889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0194C"/>
          </a:solidFill>
          <a:ln/>
        </p:spPr>
      </p:sp>
      <p:sp>
        <p:nvSpPr>
          <p:cNvPr id="14" name="Text 11"/>
          <p:cNvSpPr/>
          <p:nvPr/>
        </p:nvSpPr>
        <p:spPr>
          <a:xfrm>
            <a:off x="3794760" y="2843784"/>
            <a:ext cx="1645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scoring-service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794760" y="3278124"/>
            <a:ext cx="1645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KServe InferenceService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217920" y="27889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0194C"/>
          </a:solidFill>
          <a:ln/>
        </p:spPr>
      </p:sp>
      <p:sp>
        <p:nvSpPr>
          <p:cNvPr id="17" name="Text 14"/>
          <p:cNvSpPr/>
          <p:nvPr/>
        </p:nvSpPr>
        <p:spPr>
          <a:xfrm>
            <a:off x="6309360" y="2843784"/>
            <a:ext cx="1645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explainability-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09360" y="3278124"/>
            <a:ext cx="1645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fail-closed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8732520" y="27889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00194C"/>
          </a:solidFill>
          <a:ln/>
        </p:spPr>
      </p:sp>
      <p:sp>
        <p:nvSpPr>
          <p:cNvPr id="20" name="Text 17"/>
          <p:cNvSpPr/>
          <p:nvPr/>
        </p:nvSpPr>
        <p:spPr>
          <a:xfrm>
            <a:off x="8823960" y="2843784"/>
            <a:ext cx="1645920" cy="3794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bias-monitoring-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823960" y="3278124"/>
            <a:ext cx="16459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Congela si supera umbral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3017520" y="3223260"/>
            <a:ext cx="685800" cy="0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532120" y="3223260"/>
            <a:ext cx="685800" cy="0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046720" y="3223260"/>
            <a:ext cx="685800" cy="0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1188720" y="3913632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37457A"/>
          </a:solidFill>
          <a:ln/>
        </p:spPr>
      </p:sp>
      <p:sp>
        <p:nvSpPr>
          <p:cNvPr id="26" name="Text 23"/>
          <p:cNvSpPr/>
          <p:nvPr/>
        </p:nvSpPr>
        <p:spPr>
          <a:xfrm>
            <a:off x="1280160" y="39684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280160" y="4334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· CRO · Cumplimiento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3703320" y="3913632"/>
            <a:ext cx="5029200" cy="731520"/>
          </a:xfrm>
          <a:prstGeom prst="roundRect">
            <a:avLst>
              <a:gd name="adj" fmla="val 10000"/>
            </a:avLst>
          </a:prstGeom>
          <a:solidFill>
            <a:srgbClr val="EAB200"/>
          </a:solidFill>
          <a:ln/>
        </p:spPr>
      </p:sp>
      <p:sp>
        <p:nvSpPr>
          <p:cNvPr id="29" name="Text 26"/>
          <p:cNvSpPr/>
          <p:nvPr/>
        </p:nvSpPr>
        <p:spPr>
          <a:xfrm>
            <a:off x="3794760" y="396849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01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Registry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794760" y="4334256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Append-only, auditable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2103120" y="3657600"/>
            <a:ext cx="0" cy="256032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4617720" y="3657600"/>
            <a:ext cx="0" cy="256032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33" name="Shape 30"/>
          <p:cNvSpPr/>
          <p:nvPr/>
        </p:nvSpPr>
        <p:spPr>
          <a:xfrm>
            <a:off x="7132320" y="3657600"/>
            <a:ext cx="0" cy="256032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34" name="Shape 31"/>
          <p:cNvSpPr/>
          <p:nvPr/>
        </p:nvSpPr>
        <p:spPr>
          <a:xfrm flipH="1">
            <a:off x="8412480" y="3657600"/>
            <a:ext cx="1234440" cy="365760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1188720" y="4992624"/>
            <a:ext cx="2926080" cy="621792"/>
          </a:xfrm>
          <a:prstGeom prst="roundRect">
            <a:avLst>
              <a:gd name="adj" fmla="val 11765"/>
            </a:avLst>
          </a:prstGeom>
          <a:solidFill>
            <a:srgbClr val="6B6B6B"/>
          </a:solidFill>
          <a:ln/>
        </p:spPr>
      </p:sp>
      <p:sp>
        <p:nvSpPr>
          <p:cNvPr id="36" name="Text 33"/>
          <p:cNvSpPr/>
          <p:nvPr/>
        </p:nvSpPr>
        <p:spPr>
          <a:xfrm>
            <a:off x="1280160" y="5047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bancario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1280160" y="535838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Mock/adapter en el MVP — solo lectura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8138160" y="4992624"/>
            <a:ext cx="2834640" cy="621792"/>
          </a:xfrm>
          <a:prstGeom prst="roundRect">
            <a:avLst>
              <a:gd name="adj" fmla="val 11765"/>
            </a:avLst>
          </a:prstGeom>
          <a:solidFill>
            <a:srgbClr val="6B6B6B"/>
          </a:solidFill>
          <a:ln/>
        </p:spPr>
      </p:sp>
      <p:sp>
        <p:nvSpPr>
          <p:cNvPr id="39" name="Text 36"/>
          <p:cNvSpPr/>
          <p:nvPr/>
        </p:nvSpPr>
        <p:spPr>
          <a:xfrm>
            <a:off x="8229600" y="50474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provider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8229600" y="535838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SSO/LDAP del banco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 flipV="1">
            <a:off x="2651760" y="4919472"/>
            <a:ext cx="0" cy="73152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42" name="Shape 39"/>
          <p:cNvSpPr/>
          <p:nvPr/>
        </p:nvSpPr>
        <p:spPr>
          <a:xfrm flipV="1">
            <a:off x="9555480" y="4919472"/>
            <a:ext cx="0" cy="73152"/>
          </a:xfrm>
          <a:prstGeom prst="line">
            <a:avLst/>
          </a:prstGeom>
          <a:noFill/>
          <a:ln w="15875">
            <a:solidFill>
              <a:srgbClr val="9AA0B8"/>
            </a:solidFill>
            <a:prstDash val="solid"/>
            <a:tailEnd type="triangle"/>
          </a:ln>
        </p:spPr>
      </p:sp>
      <p:sp>
        <p:nvSpPr>
          <p:cNvPr id="43" name="Text 40"/>
          <p:cNvSpPr/>
          <p:nvPr/>
        </p:nvSpPr>
        <p:spPr>
          <a:xfrm>
            <a:off x="1188720" y="56509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del clúster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0"/>
            <a:ext cx="8778240" cy="1481328"/>
          </a:xfrm>
          <a:prstGeom prst="parallelogram">
            <a:avLst/>
          </a:prstGeom>
          <a:solidFill>
            <a:srgbClr val="001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237744" cy="1481328"/>
          </a:xfrm>
          <a:prstGeom prst="parallelogram">
            <a:avLst/>
          </a:prstGeom>
          <a:solidFill>
            <a:srgbClr val="EAB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GOBERNANZA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Principios de diseño no negociables</a:t>
            </a:r>
            <a:endParaRPr lang="en-US" sz="2600" dirty="0"/>
          </a:p>
        </p:txBody>
      </p:sp>
      <p:pic>
        <p:nvPicPr>
          <p:cNvPr id="6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56032"/>
            <a:ext cx="429768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producto nunca puede violar, verificable en la arquitectura — no una promesa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841248" y="2286000"/>
            <a:ext cx="457200" cy="457200"/>
          </a:xfrm>
          <a:prstGeom prst="ellipse">
            <a:avLst/>
          </a:prstGeom>
          <a:solidFill>
            <a:srgbClr val="00194C"/>
          </a:solidFill>
          <a:ln/>
        </p:spPr>
      </p:sp>
      <p:sp>
        <p:nvSpPr>
          <p:cNvPr id="10" name="Text 7"/>
          <p:cNvSpPr/>
          <p:nvPr/>
        </p:nvSpPr>
        <p:spPr>
          <a:xfrm>
            <a:off x="841248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463040" y="23042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modelo puntúa, el humano decide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41248" y="29260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Ningún servicio escribe estado de crédito. La decisión final siempre la firma una persona.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87952" y="21031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4" name="Shape 11"/>
          <p:cNvSpPr/>
          <p:nvPr/>
        </p:nvSpPr>
        <p:spPr>
          <a:xfrm>
            <a:off x="4389120" y="2286000"/>
            <a:ext cx="457200" cy="457200"/>
          </a:xfrm>
          <a:prstGeom prst="ellipse">
            <a:avLst/>
          </a:prstGeom>
          <a:solidFill>
            <a:srgbClr val="00194C"/>
          </a:solidFill>
          <a:ln/>
        </p:spPr>
      </p:sp>
      <p:sp>
        <p:nvSpPr>
          <p:cNvPr id="15" name="Text 12"/>
          <p:cNvSpPr/>
          <p:nvPr/>
        </p:nvSpPr>
        <p:spPr>
          <a:xfrm>
            <a:off x="43891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010912" y="23042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Soberanía del dato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389120" y="29260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del solicitante nunca sale de la infraestructura del banco.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735824" y="21031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19" name="Shape 16"/>
          <p:cNvSpPr/>
          <p:nvPr/>
        </p:nvSpPr>
        <p:spPr>
          <a:xfrm>
            <a:off x="7936992" y="2286000"/>
            <a:ext cx="457200" cy="457200"/>
          </a:xfrm>
          <a:prstGeom prst="ellipse">
            <a:avLst/>
          </a:prstGeom>
          <a:solidFill>
            <a:srgbClr val="00194C"/>
          </a:solidFill>
          <a:ln/>
        </p:spPr>
      </p:sp>
      <p:sp>
        <p:nvSpPr>
          <p:cNvPr id="20" name="Text 17"/>
          <p:cNvSpPr/>
          <p:nvPr/>
        </p:nvSpPr>
        <p:spPr>
          <a:xfrm>
            <a:off x="793699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558784" y="23042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7936992" y="29260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sin explicación sincronizada no es una decisión usable.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40080" y="41605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24" name="Shape 21"/>
          <p:cNvSpPr/>
          <p:nvPr/>
        </p:nvSpPr>
        <p:spPr>
          <a:xfrm>
            <a:off x="841248" y="4343400"/>
            <a:ext cx="457200" cy="457200"/>
          </a:xfrm>
          <a:prstGeom prst="ellipse">
            <a:avLst/>
          </a:prstGeom>
          <a:solidFill>
            <a:srgbClr val="00194C"/>
          </a:solidFill>
          <a:ln/>
        </p:spPr>
      </p:sp>
      <p:sp>
        <p:nvSpPr>
          <p:cNvPr id="25" name="Text 22"/>
          <p:cNvSpPr/>
          <p:nvPr/>
        </p:nvSpPr>
        <p:spPr>
          <a:xfrm>
            <a:off x="841248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463040" y="4361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monitoreo mide, no certifica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841248" y="49834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disparidad de sesgo se vigila antes y después de cada nueva fuente de datos.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187952" y="416052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</p:spPr>
      </p:sp>
      <p:sp>
        <p:nvSpPr>
          <p:cNvPr id="29" name="Shape 26"/>
          <p:cNvSpPr/>
          <p:nvPr/>
        </p:nvSpPr>
        <p:spPr>
          <a:xfrm>
            <a:off x="4389120" y="4343400"/>
            <a:ext cx="457200" cy="457200"/>
          </a:xfrm>
          <a:prstGeom prst="ellipse">
            <a:avLst/>
          </a:prstGeom>
          <a:solidFill>
            <a:srgbClr val="00194C"/>
          </a:solidFill>
          <a:ln/>
        </p:spPr>
      </p:sp>
      <p:sp>
        <p:nvSpPr>
          <p:cNvPr id="30" name="Text 27"/>
          <p:cNvSpPr/>
          <p:nvPr/>
        </p:nvSpPr>
        <p:spPr>
          <a:xfrm>
            <a:off x="438912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010912" y="4361688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explicación es una aproximación</a:t>
            </a:r>
            <a:endParaRPr lang="en-US" sz="1350" dirty="0"/>
          </a:p>
        </p:txBody>
      </p:sp>
      <p:sp>
        <p:nvSpPr>
          <p:cNvPr id="32" name="Text 29"/>
          <p:cNvSpPr/>
          <p:nvPr/>
        </p:nvSpPr>
        <p:spPr>
          <a:xfrm>
            <a:off x="4389120" y="4983480"/>
            <a:ext cx="288950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SHAP/LIME no son una lectura causal del modelo — se comunica así, siempre.</a:t>
            </a:r>
            <a:endParaRPr lang="en-US" sz="1150" dirty="0"/>
          </a:p>
        </p:txBody>
      </p:sp>
      <p:sp>
        <p:nvSpPr>
          <p:cNvPr id="33" name="Text 30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0"/>
            <a:ext cx="8778240" cy="1481328"/>
          </a:xfrm>
          <a:prstGeom prst="parallelogram">
            <a:avLst/>
          </a:prstGeom>
          <a:solidFill>
            <a:srgbClr val="001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237744" cy="1481328"/>
          </a:xfrm>
          <a:prstGeom prst="parallelogram">
            <a:avLst/>
          </a:prstGeom>
          <a:solidFill>
            <a:srgbClr val="EAB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puede hacer fracasar a Vectra Risk</a:t>
            </a:r>
            <a:endParaRPr lang="en-US" sz="2600" dirty="0"/>
          </a:p>
        </p:txBody>
      </p:sp>
      <p:pic>
        <p:nvPicPr>
          <p:cNvPr id="6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56032"/>
            <a:ext cx="429768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cuatro riesgos más altos identificados en la investigación de crítica — sin maquillar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10312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2F2F2"/>
          </a:solidFill>
          <a:ln/>
        </p:spPr>
      </p:sp>
      <p:sp>
        <p:nvSpPr>
          <p:cNvPr id="9" name="Shape 6"/>
          <p:cNvSpPr/>
          <p:nvPr/>
        </p:nvSpPr>
        <p:spPr>
          <a:xfrm>
            <a:off x="4800600" y="22860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194C"/>
          </a:solidFill>
          <a:ln/>
        </p:spPr>
      </p:sp>
      <p:sp>
        <p:nvSpPr>
          <p:cNvPr id="10" name="Text 7"/>
          <p:cNvSpPr/>
          <p:nvPr/>
        </p:nvSpPr>
        <p:spPr>
          <a:xfrm>
            <a:off x="4800600" y="22860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68680" y="22677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Comoditización del diferenciador central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28163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SHAP, LIME, AIF360 y Fairlearn son gratis, y Zest AI ya está integrado en Temenos.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68680" y="3474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Reposicionar el moat hacia soberanía del dato + conocimiento normativo local.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035040" y="210312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10195560" y="228600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194C"/>
          </a:solidFill>
          <a:ln/>
        </p:spPr>
      </p:sp>
      <p:sp>
        <p:nvSpPr>
          <p:cNvPr id="16" name="Text 13"/>
          <p:cNvSpPr/>
          <p:nvPr/>
        </p:nvSpPr>
        <p:spPr>
          <a:xfrm>
            <a:off x="10195560" y="22860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63640" y="226771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LQN pasa de originador a competidor directo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263640" y="28163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80.000+ operaciones, US$12M de capital y un canal directo a los mismos bancos.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263640" y="347472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Vender a los bancos que compiten con LQN; monitorear señales públicas.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429768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2F2F2"/>
          </a:solidFill>
          <a:ln/>
        </p:spPr>
      </p:sp>
      <p:sp>
        <p:nvSpPr>
          <p:cNvPr id="21" name="Shape 18"/>
          <p:cNvSpPr/>
          <p:nvPr/>
        </p:nvSpPr>
        <p:spPr>
          <a:xfrm>
            <a:off x="4800600" y="4480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194C"/>
          </a:solidFill>
          <a:ln/>
        </p:spPr>
      </p:sp>
      <p:sp>
        <p:nvSpPr>
          <p:cNvPr id="22" name="Text 19"/>
          <p:cNvSpPr/>
          <p:nvPr/>
        </p:nvSpPr>
        <p:spPr>
          <a:xfrm>
            <a:off x="4800600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68680" y="44622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Irrelevancia silenciosa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8680" y="50109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archiva la explicación sin usarla, mientras las métricas se ven perfectas.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868680" y="5669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y métrica de ruido midiendo adopción real desde el día uno.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035040" y="4297680"/>
            <a:ext cx="5120640" cy="1965960"/>
          </a:xfrm>
          <a:prstGeom prst="roundRect">
            <a:avLst>
              <a:gd name="adj" fmla="val 4651"/>
            </a:avLst>
          </a:prstGeom>
          <a:solidFill>
            <a:srgbClr val="F2F2F2"/>
          </a:solidFill>
          <a:ln/>
        </p:spPr>
      </p:sp>
      <p:sp>
        <p:nvSpPr>
          <p:cNvPr id="27" name="Shape 24"/>
          <p:cNvSpPr/>
          <p:nvPr/>
        </p:nvSpPr>
        <p:spPr>
          <a:xfrm>
            <a:off x="10195560" y="4480560"/>
            <a:ext cx="777240" cy="292608"/>
          </a:xfrm>
          <a:prstGeom prst="roundRect">
            <a:avLst>
              <a:gd name="adj" fmla="val 50000"/>
            </a:avLst>
          </a:prstGeom>
          <a:solidFill>
            <a:srgbClr val="00194C"/>
          </a:solidFill>
          <a:ln/>
        </p:spPr>
      </p:sp>
      <p:sp>
        <p:nvSpPr>
          <p:cNvPr id="28" name="Text 25"/>
          <p:cNvSpPr/>
          <p:nvPr/>
        </p:nvSpPr>
        <p:spPr>
          <a:xfrm>
            <a:off x="10195560" y="44805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263640" y="44622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Automatización de confianza ciega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263640" y="501091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comité acepta el score sin escrutinio real solo porque "el modelo lo explicó".</a:t>
            </a:r>
            <a:endParaRPr lang="en-US" sz="1150" dirty="0"/>
          </a:p>
        </p:txBody>
      </p:sp>
      <p:sp>
        <p:nvSpPr>
          <p:cNvPr id="31" name="Text 28"/>
          <p:cNvSpPr/>
          <p:nvPr/>
        </p:nvSpPr>
        <p:spPr>
          <a:xfrm>
            <a:off x="6263640" y="5669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08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visible de aproximación post-hoc + auditoría trimestral de aceptación.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0"/>
            <a:ext cx="8778240" cy="1481328"/>
          </a:xfrm>
          <a:prstGeom prst="parallelogram">
            <a:avLst/>
          </a:prstGeom>
          <a:solidFill>
            <a:srgbClr val="00194C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0"/>
            <a:ext cx="237744" cy="1481328"/>
          </a:xfrm>
          <a:prstGeom prst="parallelogram">
            <a:avLst/>
          </a:prstGeom>
          <a:solidFill>
            <a:srgbClr val="EAB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560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ENTREGA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4864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Hoja de ruta alineada al curso</a:t>
            </a:r>
            <a:endParaRPr lang="en-US" sz="2600" dirty="0"/>
          </a:p>
        </p:txBody>
      </p:sp>
      <p:pic>
        <p:nvPicPr>
          <p:cNvPr id="6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0" y="256032"/>
            <a:ext cx="429768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16459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clúster base a un sistema con gobernanza corriendo en continuo, módulo por módulo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760220" y="2468880"/>
            <a:ext cx="8668512" cy="0"/>
          </a:xfrm>
          <a:prstGeom prst="line">
            <a:avLst/>
          </a:prstGeom>
          <a:noFill/>
          <a:ln w="19050">
            <a:solidFill>
              <a:srgbClr val="D6D9E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04188" y="2212848"/>
            <a:ext cx="512064" cy="512064"/>
          </a:xfrm>
          <a:prstGeom prst="ellipse">
            <a:avLst/>
          </a:prstGeom>
          <a:solidFill>
            <a:srgbClr val="0019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504188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77240" y="2926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Módulos 4-5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777240" y="3218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/ CKA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" y="35661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/>
        </p:spPr>
      </p:sp>
      <p:sp>
        <p:nvSpPr>
          <p:cNvPr id="14" name="Text 11"/>
          <p:cNvSpPr/>
          <p:nvPr/>
        </p:nvSpPr>
        <p:spPr>
          <a:xfrm>
            <a:off x="914400" y="3675888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Clúster base y KServe sirviendo un primer modelo de prueba.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671316" y="2212848"/>
            <a:ext cx="512064" cy="512064"/>
          </a:xfrm>
          <a:prstGeom prst="ellipse">
            <a:avLst/>
          </a:prstGeom>
          <a:solidFill>
            <a:srgbClr val="0019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71316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44368" y="2926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6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2944368" y="3218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CKAD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944368" y="35661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/>
        </p:spPr>
      </p:sp>
      <p:sp>
        <p:nvSpPr>
          <p:cNvPr id="20" name="Text 17"/>
          <p:cNvSpPr/>
          <p:nvPr/>
        </p:nvSpPr>
        <p:spPr>
          <a:xfrm>
            <a:off x="3081528" y="3675888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Consolas, API Gateway con RBAC, primeras NetworkPolicies.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838444" y="2212848"/>
            <a:ext cx="512064" cy="512064"/>
          </a:xfrm>
          <a:prstGeom prst="ellipse">
            <a:avLst/>
          </a:prstGeom>
          <a:solidFill>
            <a:srgbClr val="0019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38444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111496" y="2926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7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111496" y="3218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CKS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111496" y="35661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/>
        </p:spPr>
      </p:sp>
      <p:sp>
        <p:nvSpPr>
          <p:cNvPr id="26" name="Text 23"/>
          <p:cNvSpPr/>
          <p:nvPr/>
        </p:nvSpPr>
        <p:spPr>
          <a:xfrm>
            <a:off x="5248656" y="3675888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afinado, cifrado, prueba de penetración interna.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8005572" y="2212848"/>
            <a:ext cx="512064" cy="512064"/>
          </a:xfrm>
          <a:prstGeom prst="ellipse">
            <a:avLst/>
          </a:prstGeom>
          <a:solidFill>
            <a:srgbClr val="00194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05572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278624" y="2926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Módulo 8</a:t>
            </a:r>
            <a:endParaRPr lang="en-US" sz="1350" dirty="0"/>
          </a:p>
        </p:txBody>
      </p:sp>
      <p:sp>
        <p:nvSpPr>
          <p:cNvPr id="30" name="Text 27"/>
          <p:cNvSpPr/>
          <p:nvPr/>
        </p:nvSpPr>
        <p:spPr>
          <a:xfrm>
            <a:off x="7278624" y="3218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278624" y="35661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/>
        </p:spPr>
      </p:sp>
      <p:sp>
        <p:nvSpPr>
          <p:cNvPr id="32" name="Text 29"/>
          <p:cNvSpPr/>
          <p:nvPr/>
        </p:nvSpPr>
        <p:spPr>
          <a:xfrm>
            <a:off x="7415784" y="3675888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GitOps; fail-closed y freeze corriendo en continuo.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10172700" y="2212848"/>
            <a:ext cx="512064" cy="512064"/>
          </a:xfrm>
          <a:prstGeom prst="ellipse">
            <a:avLst/>
          </a:prstGeom>
          <a:solidFill>
            <a:srgbClr val="EAB20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72700" y="22128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445752" y="2926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019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Sesión 16</a:t>
            </a:r>
            <a:endParaRPr lang="en-US" sz="1350" dirty="0"/>
          </a:p>
        </p:txBody>
      </p:sp>
      <p:sp>
        <p:nvSpPr>
          <p:cNvPr id="36" name="Text 33"/>
          <p:cNvSpPr/>
          <p:nvPr/>
        </p:nvSpPr>
        <p:spPr>
          <a:xfrm>
            <a:off x="9445752" y="321868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5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Sustentación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9445752" y="3566160"/>
            <a:ext cx="1965960" cy="1600200"/>
          </a:xfrm>
          <a:prstGeom prst="roundRect">
            <a:avLst>
              <a:gd name="adj" fmla="val 4571"/>
            </a:avLst>
          </a:prstGeom>
          <a:solidFill>
            <a:srgbClr val="F2F2F2"/>
          </a:solidFill>
          <a:ln/>
        </p:spPr>
      </p:sp>
      <p:sp>
        <p:nvSpPr>
          <p:cNvPr id="38" name="Text 35"/>
          <p:cNvSpPr/>
          <p:nvPr/>
        </p:nvSpPr>
        <p:spPr>
          <a:xfrm>
            <a:off x="9582912" y="3675888"/>
            <a:ext cx="16916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F3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en vivo: fail-closed, freeze automático y métricas.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9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548640"/>
            <a:ext cx="15087600" cy="1828800"/>
          </a:xfrm>
          <a:prstGeom prst="parallelogram">
            <a:avLst/>
          </a:prstGeom>
          <a:solidFill>
            <a:srgbClr val="000E2E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1207008"/>
            <a:ext cx="15087600" cy="182880"/>
          </a:xfrm>
          <a:prstGeom prst="parallelogram">
            <a:avLst/>
          </a:prstGeom>
          <a:solidFill>
            <a:srgbClr val="EAB200"/>
          </a:solidFill>
          <a:ln/>
        </p:spPr>
      </p:sp>
      <p:pic>
        <p:nvPicPr>
          <p:cNvPr id="4" name="Image 0" descr="/home/claude/assets/javeriana_c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0" y="292608"/>
            <a:ext cx="502920" cy="649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sabremos que funciona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10515600" cy="1554480"/>
          </a:xfrm>
          <a:prstGeom prst="roundRect">
            <a:avLst>
              <a:gd name="adj" fmla="val 7059"/>
            </a:avLst>
          </a:prstGeom>
          <a:solidFill>
            <a:srgbClr val="000E2E"/>
          </a:solidFill>
          <a:ln w="12700">
            <a:solidFill>
              <a:srgbClr val="EAB2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43000" y="1874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AB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NORTH STAR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143000" y="2176272"/>
            <a:ext cx="8961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Tasa de decisiones donde la explicación cambia o sustenta materialmente la decisión del comité — no solo la acompaña.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&lt;1h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822960" y="42793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originación con score explicado, en el 80% de casos estándar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43484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&gt;0.85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434840" y="42793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objetivo sobre cartera real del cliente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046720" y="361188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AB2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&lt;5pp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046720" y="4279392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disparidad de aprobación entre grupos protegidos — el modelo se congela si se supera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553212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de alerta temprana: tasa de consulta al detalle de la explicación antes de decidir — si cae, el sistema se volvió una casilla de cumplimiento, no un insumo real.</a:t>
            </a:r>
            <a:endParaRPr lang="en-US" sz="1200" dirty="0"/>
          </a:p>
        </p:txBody>
      </p:sp>
      <p:pic>
        <p:nvPicPr>
          <p:cNvPr id="16" name="Image 1" descr="/home/claude/assets/javeriana_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6263640"/>
            <a:ext cx="1920240" cy="6400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1274552" y="6492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575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2026-08-15T10:37:15Z</dcterms:created>
  <dcterms:modified xsi:type="dcterms:W3CDTF">2026-08-15T10:37:15Z</dcterms:modified>
</cp:coreProperties>
</file>